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15"/>
  </p:notesMasterIdLst>
  <p:sldIdLst>
    <p:sldId id="256" r:id="rId6"/>
    <p:sldId id="257" r:id="rId7"/>
    <p:sldId id="258" r:id="rId8"/>
    <p:sldId id="259" r:id="rId9"/>
    <p:sldId id="260" r:id="rId10"/>
    <p:sldId id="261" r:id="rId11"/>
    <p:sldId id="262" r:id="rId12"/>
  </p:sldIdLst>
  <p:sldSz cx="18288000" cy="10287000"/>
  <p:notesSz cx="6858000" cy="9144000"/>
  <p:embeddedFontLst>
    <p:embeddedFont>
      <p:font typeface="Montserrat" charset="1" panose="00000500000000000000"/>
      <p:regular r:id="rId13"/>
    </p:embeddedFont>
    <p:embeddedFont>
      <p:font typeface="Times New Roman" charset="1" panose="02020603050405020304"/>
      <p:regular r:id="rId14"/>
    </p:embeddedFont>
    <p:embeddedFont>
      <p:font typeface="Times New Roman Bold" charset="1" panose="02020803070505020304"/>
      <p:regular r:id="rId18"/>
    </p:embeddedFont>
    <p:embeddedFont>
      <p:font typeface="Arial" charset="1" panose="020B0604020202020204"/>
      <p:regular r:id="rId19"/>
    </p:embeddedFont>
    <p:embeddedFont>
      <p:font typeface="Calibri (MS)" charset="1" panose="020F0502020204030204"/>
      <p:regular r:id="rId20"/>
    </p:embeddedFont>
    <p:embeddedFont>
      <p:font typeface="Work Sans" charset="1" panose="00000000000000000000"/>
      <p:regular r:id="rId21"/>
    </p:embeddedFont>
    <p:embeddedFont>
      <p:font typeface="Prachason Neue Expanded Bold" charset="1" panose="00000000000000000000"/>
      <p:regular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fonts/font13.fntdata" Type="http://schemas.openxmlformats.org/officeDocument/2006/relationships/font"/><Relationship Id="rId14" Target="fonts/font14.fntdata" Type="http://schemas.openxmlformats.org/officeDocument/2006/relationships/font"/><Relationship Id="rId15" Target="notesMasters/notesMaster1.xml" Type="http://schemas.openxmlformats.org/officeDocument/2006/relationships/notesMaster"/><Relationship Id="rId16" Target="theme/theme2.xml" Type="http://schemas.openxmlformats.org/officeDocument/2006/relationships/theme"/><Relationship Id="rId17" Target="notesSlides/notesSlide1.xml" Type="http://schemas.openxmlformats.org/officeDocument/2006/relationships/notesSlide"/><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2</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5.jpe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 Id="rId6" Target="../media/image1.png" Type="http://schemas.openxmlformats.org/officeDocument/2006/relationships/image"/><Relationship Id="rId7" Target="../media/image2.svg" Type="http://schemas.openxmlformats.org/officeDocument/2006/relationships/image"/><Relationship Id="rId8" Target="../media/image3.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8.png" Type="http://schemas.openxmlformats.org/officeDocument/2006/relationships/image"/><Relationship Id="rId5" Target="../media/image9.png" Type="http://schemas.openxmlformats.org/officeDocument/2006/relationships/image"/><Relationship Id="rId6" Target="../media/image5.jpeg" Type="http://schemas.openxmlformats.org/officeDocument/2006/relationships/image"/><Relationship Id="rId7" Target="../media/image10.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4.png" Type="http://schemas.openxmlformats.org/officeDocument/2006/relationships/image"/><Relationship Id="rId5" Target="../media/image5.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4.png" Type="http://schemas.openxmlformats.org/officeDocument/2006/relationships/image"/><Relationship Id="rId5" Target="../media/image5.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1.png" Type="http://schemas.openxmlformats.org/officeDocument/2006/relationships/image"/><Relationship Id="rId4" Target="../media/image2.svg" Type="http://schemas.openxmlformats.org/officeDocument/2006/relationships/image"/><Relationship Id="rId5" Target="../media/image5.jpeg" Type="http://schemas.openxmlformats.org/officeDocument/2006/relationships/image"/><Relationship Id="rId6" Target="http://www.tinkercad.com/" TargetMode="External" Type="http://schemas.openxmlformats.org/officeDocument/2006/relationships/hyperlink"/><Relationship Id="rId7" Target="http://www.arduino.cc/" TargetMode="External" Type="http://schemas.openxmlformats.org/officeDocument/2006/relationships/hyperlink"/><Relationship Id="rId8" Target="http://www.blynk.io/" TargetMode="External" Type="http://schemas.openxmlformats.org/officeDocument/2006/relationships/hyperlink"/></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1.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4365964" y="6419555"/>
            <a:ext cx="10267498" cy="10267498"/>
          </a:xfrm>
          <a:custGeom>
            <a:avLst/>
            <a:gdLst/>
            <a:ahLst/>
            <a:cxnLst/>
            <a:rect r="r" b="b" t="t" l="l"/>
            <a:pathLst>
              <a:path h="10267498" w="10267498">
                <a:moveTo>
                  <a:pt x="0" y="0"/>
                </a:moveTo>
                <a:lnTo>
                  <a:pt x="10267498" y="0"/>
                </a:lnTo>
                <a:lnTo>
                  <a:pt x="10267498" y="10267498"/>
                </a:lnTo>
                <a:lnTo>
                  <a:pt x="0" y="1026749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3964114" y="-4251638"/>
            <a:ext cx="22809385" cy="20541840"/>
            <a:chOff x="0" y="0"/>
            <a:chExt cx="30412514" cy="27389120"/>
          </a:xfrm>
        </p:grpSpPr>
        <p:sp>
          <p:nvSpPr>
            <p:cNvPr name="Freeform 4" id="4"/>
            <p:cNvSpPr/>
            <p:nvPr/>
          </p:nvSpPr>
          <p:spPr>
            <a:xfrm flipH="false" flipV="false" rot="0">
              <a:off x="0" y="0"/>
              <a:ext cx="14461680" cy="10972800"/>
            </a:xfrm>
            <a:custGeom>
              <a:avLst/>
              <a:gdLst/>
              <a:ahLst/>
              <a:cxnLst/>
              <a:rect r="r" b="b" t="t" l="l"/>
              <a:pathLst>
                <a:path h="10972800" w="14461680">
                  <a:moveTo>
                    <a:pt x="0" y="0"/>
                  </a:moveTo>
                  <a:lnTo>
                    <a:pt x="14461680" y="0"/>
                  </a:lnTo>
                  <a:lnTo>
                    <a:pt x="14461680" y="10972800"/>
                  </a:lnTo>
                  <a:lnTo>
                    <a:pt x="0" y="10972800"/>
                  </a:lnTo>
                  <a:lnTo>
                    <a:pt x="0" y="0"/>
                  </a:lnTo>
                  <a:close/>
                </a:path>
              </a:pathLst>
            </a:custGeom>
            <a:blipFill>
              <a:blip r:embed="rId4"/>
              <a:stretch>
                <a:fillRect l="0" t="0" r="0" b="0"/>
              </a:stretch>
            </a:blipFill>
          </p:spPr>
        </p:sp>
        <p:sp>
          <p:nvSpPr>
            <p:cNvPr name="Freeform 5" id="5"/>
            <p:cNvSpPr/>
            <p:nvPr/>
          </p:nvSpPr>
          <p:spPr>
            <a:xfrm flipH="false" flipV="false" rot="-3326260">
              <a:off x="15967891" y="13574569"/>
              <a:ext cx="12667013" cy="10972800"/>
            </a:xfrm>
            <a:custGeom>
              <a:avLst/>
              <a:gdLst/>
              <a:ahLst/>
              <a:cxnLst/>
              <a:rect r="r" b="b" t="t" l="l"/>
              <a:pathLst>
                <a:path h="10972800" w="12667013">
                  <a:moveTo>
                    <a:pt x="0" y="0"/>
                  </a:moveTo>
                  <a:lnTo>
                    <a:pt x="12667013" y="0"/>
                  </a:lnTo>
                  <a:lnTo>
                    <a:pt x="12667013" y="10972800"/>
                  </a:lnTo>
                  <a:lnTo>
                    <a:pt x="0" y="10972800"/>
                  </a:lnTo>
                  <a:lnTo>
                    <a:pt x="0" y="0"/>
                  </a:lnTo>
                  <a:close/>
                </a:path>
              </a:pathLst>
            </a:custGeom>
            <a:blipFill>
              <a:blip r:embed="rId5"/>
              <a:stretch>
                <a:fillRect l="0" t="0" r="0" b="0"/>
              </a:stretch>
            </a:blipFill>
          </p:spPr>
        </p:sp>
      </p:grpSp>
      <p:sp>
        <p:nvSpPr>
          <p:cNvPr name="TextBox 6" id="6"/>
          <p:cNvSpPr txBox="true"/>
          <p:nvPr/>
        </p:nvSpPr>
        <p:spPr>
          <a:xfrm rot="0">
            <a:off x="6037993" y="6164135"/>
            <a:ext cx="4940930" cy="444165"/>
          </a:xfrm>
          <a:prstGeom prst="rect">
            <a:avLst/>
          </a:prstGeom>
        </p:spPr>
        <p:txBody>
          <a:bodyPr anchor="t" rtlCol="false" tIns="0" lIns="0" bIns="0" rIns="0">
            <a:spAutoFit/>
          </a:bodyPr>
          <a:lstStyle/>
          <a:p>
            <a:pPr algn="l">
              <a:lnSpc>
                <a:spcPts val="3713"/>
              </a:lnSpc>
            </a:pPr>
            <a:r>
              <a:rPr lang="en-US" sz="2509" spc="582">
                <a:solidFill>
                  <a:srgbClr val="FFFFFF"/>
                </a:solidFill>
                <a:latin typeface="Montserrat"/>
                <a:ea typeface="Montserrat"/>
                <a:cs typeface="Montserrat"/>
                <a:sym typeface="Montserrat"/>
              </a:rPr>
              <a:t>-BY POWERHOUSE</a:t>
            </a:r>
          </a:p>
        </p:txBody>
      </p:sp>
      <p:sp>
        <p:nvSpPr>
          <p:cNvPr name="Freeform 7" id="7"/>
          <p:cNvSpPr/>
          <p:nvPr/>
        </p:nvSpPr>
        <p:spPr>
          <a:xfrm flipH="false" flipV="false" rot="0">
            <a:off x="10978923" y="-4676538"/>
            <a:ext cx="7309077" cy="7309077"/>
          </a:xfrm>
          <a:custGeom>
            <a:avLst/>
            <a:gdLst/>
            <a:ahLst/>
            <a:cxnLst/>
            <a:rect r="r" b="b" t="t" l="l"/>
            <a:pathLst>
              <a:path h="7309077" w="7309077">
                <a:moveTo>
                  <a:pt x="0" y="0"/>
                </a:moveTo>
                <a:lnTo>
                  <a:pt x="7309077" y="0"/>
                </a:lnTo>
                <a:lnTo>
                  <a:pt x="7309077" y="7309076"/>
                </a:lnTo>
                <a:lnTo>
                  <a:pt x="0" y="730907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8" id="8"/>
          <p:cNvSpPr txBox="true"/>
          <p:nvPr/>
        </p:nvSpPr>
        <p:spPr>
          <a:xfrm rot="0">
            <a:off x="-857419" y="4016062"/>
            <a:ext cx="19459622" cy="1665658"/>
          </a:xfrm>
          <a:prstGeom prst="rect">
            <a:avLst/>
          </a:prstGeom>
        </p:spPr>
        <p:txBody>
          <a:bodyPr anchor="t" rtlCol="false" tIns="0" lIns="0" bIns="0" rIns="0">
            <a:spAutoFit/>
          </a:bodyPr>
          <a:lstStyle/>
          <a:p>
            <a:pPr algn="ctr">
              <a:lnSpc>
                <a:spcPts val="12563"/>
              </a:lnSpc>
            </a:pPr>
            <a:r>
              <a:rPr lang="en-US" sz="11308">
                <a:solidFill>
                  <a:srgbClr val="FFFFFF"/>
                </a:solidFill>
                <a:latin typeface="Times New Roman"/>
                <a:ea typeface="Times New Roman"/>
                <a:cs typeface="Times New Roman"/>
                <a:sym typeface="Times New Roman"/>
              </a:rPr>
              <a:t>FLUX LIGHTS</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0" y="20006"/>
            <a:ext cx="18288000" cy="1082018"/>
            <a:chOff x="0" y="0"/>
            <a:chExt cx="24451851" cy="1446705"/>
          </a:xfrm>
        </p:grpSpPr>
        <p:sp>
          <p:nvSpPr>
            <p:cNvPr name="Freeform 3" id="3"/>
            <p:cNvSpPr/>
            <p:nvPr/>
          </p:nvSpPr>
          <p:spPr>
            <a:xfrm flipH="false" flipV="false" rot="0">
              <a:off x="0" y="0"/>
              <a:ext cx="24451841" cy="1446702"/>
            </a:xfrm>
            <a:custGeom>
              <a:avLst/>
              <a:gdLst/>
              <a:ahLst/>
              <a:cxnLst/>
              <a:rect r="r" b="b" t="t" l="l"/>
              <a:pathLst>
                <a:path h="1446702" w="24451841">
                  <a:moveTo>
                    <a:pt x="0" y="0"/>
                  </a:moveTo>
                  <a:lnTo>
                    <a:pt x="24451841" y="0"/>
                  </a:lnTo>
                  <a:lnTo>
                    <a:pt x="24451841" y="1446702"/>
                  </a:lnTo>
                  <a:lnTo>
                    <a:pt x="0" y="1446702"/>
                  </a:lnTo>
                  <a:close/>
                </a:path>
              </a:pathLst>
            </a:custGeom>
            <a:blipFill>
              <a:blip r:embed="rId3">
                <a:alphaModFix amt="0"/>
              </a:blip>
              <a:stretch>
                <a:fillRect l="0" t="-45906" r="59158" b="-123100"/>
              </a:stretch>
            </a:blipFill>
          </p:spPr>
        </p:sp>
        <p:sp>
          <p:nvSpPr>
            <p:cNvPr name="TextBox 4" id="4"/>
            <p:cNvSpPr txBox="true"/>
            <p:nvPr/>
          </p:nvSpPr>
          <p:spPr>
            <a:xfrm>
              <a:off x="0" y="-28575"/>
              <a:ext cx="24451851" cy="1475280"/>
            </a:xfrm>
            <a:prstGeom prst="rect">
              <a:avLst/>
            </a:prstGeom>
          </p:spPr>
          <p:txBody>
            <a:bodyPr anchor="ctr" rtlCol="false" tIns="0" lIns="0" bIns="0" rIns="0"/>
            <a:lstStyle/>
            <a:p>
              <a:pPr algn="ctr">
                <a:lnSpc>
                  <a:spcPts val="6480"/>
                </a:lnSpc>
              </a:pPr>
              <a:r>
                <a:rPr lang="en-US" sz="5400" b="true">
                  <a:solidFill>
                    <a:srgbClr val="FFFFFF"/>
                  </a:solidFill>
                  <a:latin typeface="Times New Roman Bold"/>
                  <a:ea typeface="Times New Roman Bold"/>
                  <a:cs typeface="Times New Roman Bold"/>
                  <a:sym typeface="Times New Roman Bold"/>
                </a:rPr>
                <a:t>FLUX LIGHTS</a:t>
              </a:r>
            </a:p>
          </p:txBody>
        </p:sp>
      </p:grpSp>
      <p:sp>
        <p:nvSpPr>
          <p:cNvPr name="TextBox 5" id="5"/>
          <p:cNvSpPr txBox="true"/>
          <p:nvPr/>
        </p:nvSpPr>
        <p:spPr>
          <a:xfrm rot="0">
            <a:off x="29" y="1944313"/>
            <a:ext cx="11084044" cy="6842125"/>
          </a:xfrm>
          <a:prstGeom prst="rect">
            <a:avLst/>
          </a:prstGeom>
        </p:spPr>
        <p:txBody>
          <a:bodyPr anchor="t" rtlCol="false" tIns="0" lIns="0" bIns="0" rIns="0">
            <a:spAutoFit/>
          </a:bodyPr>
          <a:lstStyle/>
          <a:p>
            <a:pPr algn="just" marL="675640" indent="-225213" lvl="2">
              <a:lnSpc>
                <a:spcPts val="5000"/>
              </a:lnSpc>
              <a:buFont typeface="Arial"/>
              <a:buChar char="⚬"/>
            </a:pPr>
            <a:r>
              <a:rPr lang="en-US" sz="2000">
                <a:solidFill>
                  <a:srgbClr val="FFFFFF"/>
                </a:solidFill>
                <a:latin typeface="Arial"/>
                <a:ea typeface="Arial"/>
                <a:cs typeface="Arial"/>
                <a:sym typeface="Arial"/>
              </a:rPr>
              <a:t>As India’s traffic is highly unpredictable so we the students of SRMIST RAMAPURAM has found a solution for this problem.</a:t>
            </a:r>
          </a:p>
          <a:p>
            <a:pPr algn="just" marL="675640" indent="-225213" lvl="2">
              <a:lnSpc>
                <a:spcPts val="5000"/>
              </a:lnSpc>
              <a:buFont typeface="Arial"/>
              <a:buChar char="⚬"/>
            </a:pPr>
            <a:r>
              <a:rPr lang="en-US" sz="2000">
                <a:solidFill>
                  <a:srgbClr val="FFFFFF"/>
                </a:solidFill>
                <a:latin typeface="Arial"/>
                <a:ea typeface="Arial"/>
                <a:cs typeface="Arial"/>
                <a:sym typeface="Arial"/>
              </a:rPr>
              <a:t> We name this project FLUX LIGHTS as flux means constant movement or constant change so to adapt for the constant change in traffic hence the name FLUX LIGHTS. </a:t>
            </a:r>
          </a:p>
          <a:p>
            <a:pPr algn="just" marL="675640" indent="-225213" lvl="2">
              <a:lnSpc>
                <a:spcPts val="5000"/>
              </a:lnSpc>
              <a:buFont typeface="Arial"/>
              <a:buChar char="⚬"/>
            </a:pPr>
            <a:r>
              <a:rPr lang="en-US" sz="2000">
                <a:solidFill>
                  <a:srgbClr val="FFFFFF"/>
                </a:solidFill>
                <a:latin typeface="Arial"/>
                <a:ea typeface="Arial"/>
                <a:cs typeface="Arial"/>
                <a:sym typeface="Arial"/>
              </a:rPr>
              <a:t>In this project’s prototype uses the components “Arduino uno, esp32, ultra sonic sensor”, this will be connected to the traffic lights to work for the unpredictable ongoing traffic and we will connect this model to a app which is used for human intervention in case of dire situation where a computer can’t solve the problem</a:t>
            </a:r>
          </a:p>
          <a:p>
            <a:pPr algn="just" marL="675640" indent="-225213" lvl="2">
              <a:lnSpc>
                <a:spcPts val="5000"/>
              </a:lnSpc>
              <a:buFont typeface="Arial"/>
              <a:buChar char="⚬"/>
            </a:pPr>
            <a:r>
              <a:rPr lang="en-US" sz="2000">
                <a:solidFill>
                  <a:srgbClr val="FFFFFF"/>
                </a:solidFill>
                <a:latin typeface="Arial"/>
                <a:ea typeface="Arial"/>
                <a:cs typeface="Arial"/>
                <a:sym typeface="Arial"/>
              </a:rPr>
              <a:t>As we know INDIA is huge country and this will help in the controlling of upcoming traffic easily and less tension to our government and this prototype is adaptive to the density of the traffic hence reduces the time taken for people waiting in each traffic stop </a:t>
            </a:r>
          </a:p>
        </p:txBody>
      </p:sp>
      <p:grpSp>
        <p:nvGrpSpPr>
          <p:cNvPr name="Group 6" id="6"/>
          <p:cNvGrpSpPr/>
          <p:nvPr/>
        </p:nvGrpSpPr>
        <p:grpSpPr>
          <a:xfrm rot="0">
            <a:off x="29" y="22165"/>
            <a:ext cx="2184864" cy="1409071"/>
            <a:chOff x="0" y="0"/>
            <a:chExt cx="2913151" cy="1878762"/>
          </a:xfrm>
        </p:grpSpPr>
        <p:sp>
          <p:nvSpPr>
            <p:cNvPr name="Freeform 7" id="7" descr="Your startup LOGO"/>
            <p:cNvSpPr/>
            <p:nvPr/>
          </p:nvSpPr>
          <p:spPr>
            <a:xfrm flipH="false" flipV="false" rot="0">
              <a:off x="0" y="0"/>
              <a:ext cx="2913126" cy="1878838"/>
            </a:xfrm>
            <a:custGeom>
              <a:avLst/>
              <a:gdLst/>
              <a:ahLst/>
              <a:cxnLst/>
              <a:rect r="r" b="b" t="t" l="l"/>
              <a:pathLst>
                <a:path h="1878838" w="2913126">
                  <a:moveTo>
                    <a:pt x="0" y="939419"/>
                  </a:moveTo>
                  <a:cubicBezTo>
                    <a:pt x="0" y="420497"/>
                    <a:pt x="652145" y="0"/>
                    <a:pt x="1456563" y="0"/>
                  </a:cubicBezTo>
                  <a:cubicBezTo>
                    <a:pt x="2260981" y="0"/>
                    <a:pt x="2913126" y="420497"/>
                    <a:pt x="2913126" y="939419"/>
                  </a:cubicBezTo>
                  <a:cubicBezTo>
                    <a:pt x="2913126" y="1458341"/>
                    <a:pt x="2260981" y="1878838"/>
                    <a:pt x="1456563" y="1878838"/>
                  </a:cubicBezTo>
                  <a:cubicBezTo>
                    <a:pt x="652145" y="1878838"/>
                    <a:pt x="0" y="1458214"/>
                    <a:pt x="0" y="939419"/>
                  </a:cubicBezTo>
                  <a:close/>
                </a:path>
              </a:pathLst>
            </a:custGeom>
            <a:solidFill>
              <a:srgbClr val="FFFFFF"/>
            </a:solidFill>
          </p:spPr>
        </p:sp>
      </p:grpSp>
      <p:sp>
        <p:nvSpPr>
          <p:cNvPr name="Freeform 8" id="8" descr="Your startup LOGO"/>
          <p:cNvSpPr/>
          <p:nvPr/>
        </p:nvSpPr>
        <p:spPr>
          <a:xfrm flipH="false" flipV="false" rot="0">
            <a:off x="29" y="0"/>
            <a:ext cx="2229202" cy="1453401"/>
          </a:xfrm>
          <a:custGeom>
            <a:avLst/>
            <a:gdLst/>
            <a:ahLst/>
            <a:cxnLst/>
            <a:rect r="r" b="b" t="t" l="l"/>
            <a:pathLst>
              <a:path h="1453401" w="2229202">
                <a:moveTo>
                  <a:pt x="0" y="0"/>
                </a:moveTo>
                <a:lnTo>
                  <a:pt x="2229202" y="0"/>
                </a:lnTo>
                <a:lnTo>
                  <a:pt x="2229202" y="1453401"/>
                </a:lnTo>
                <a:lnTo>
                  <a:pt x="0" y="145340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9" id="9"/>
          <p:cNvGrpSpPr/>
          <p:nvPr/>
        </p:nvGrpSpPr>
        <p:grpSpPr>
          <a:xfrm rot="0">
            <a:off x="0" y="20006"/>
            <a:ext cx="2229231" cy="1503264"/>
            <a:chOff x="0" y="0"/>
            <a:chExt cx="2972308" cy="2004352"/>
          </a:xfrm>
        </p:grpSpPr>
        <p:sp>
          <p:nvSpPr>
            <p:cNvPr name="Freeform 10" id="10"/>
            <p:cNvSpPr/>
            <p:nvPr/>
          </p:nvSpPr>
          <p:spPr>
            <a:xfrm flipH="false" flipV="false" rot="0">
              <a:off x="0" y="0"/>
              <a:ext cx="2972308" cy="2004349"/>
            </a:xfrm>
            <a:custGeom>
              <a:avLst/>
              <a:gdLst/>
              <a:ahLst/>
              <a:cxnLst/>
              <a:rect r="r" b="b" t="t" l="l"/>
              <a:pathLst>
                <a:path h="2004349" w="2972308">
                  <a:moveTo>
                    <a:pt x="0" y="0"/>
                  </a:moveTo>
                  <a:lnTo>
                    <a:pt x="2972308" y="0"/>
                  </a:lnTo>
                  <a:lnTo>
                    <a:pt x="2972308" y="2004349"/>
                  </a:lnTo>
                  <a:lnTo>
                    <a:pt x="0" y="2004349"/>
                  </a:lnTo>
                  <a:close/>
                </a:path>
              </a:pathLst>
            </a:custGeom>
            <a:blipFill>
              <a:blip r:embed="rId3">
                <a:alphaModFix amt="0"/>
              </a:blip>
              <a:stretch>
                <a:fillRect l="-36520" t="0" r="-36520" b="0"/>
              </a:stretch>
            </a:blipFill>
          </p:spPr>
        </p:sp>
        <p:sp>
          <p:nvSpPr>
            <p:cNvPr name="TextBox 11" id="11"/>
            <p:cNvSpPr txBox="true"/>
            <p:nvPr/>
          </p:nvSpPr>
          <p:spPr>
            <a:xfrm>
              <a:off x="0" y="-57150"/>
              <a:ext cx="2972308" cy="2061502"/>
            </a:xfrm>
            <a:prstGeom prst="rect">
              <a:avLst/>
            </a:prstGeom>
          </p:spPr>
          <p:txBody>
            <a:bodyPr anchor="ctr" rtlCol="false" tIns="0" lIns="0" bIns="0" rIns="0"/>
            <a:lstStyle/>
            <a:p>
              <a:pPr algn="ctr">
                <a:lnSpc>
                  <a:spcPts val="3240"/>
                </a:lnSpc>
              </a:pPr>
              <a:r>
                <a:rPr lang="en-US" sz="2700">
                  <a:solidFill>
                    <a:srgbClr val="000000"/>
                  </a:solidFill>
                  <a:latin typeface="Calibri (MS)"/>
                  <a:ea typeface="Calibri (MS)"/>
                  <a:cs typeface="Calibri (MS)"/>
                  <a:sym typeface="Calibri (MS)"/>
                </a:rPr>
                <a:t>Powerhouse</a:t>
              </a:r>
            </a:p>
          </p:txBody>
        </p:sp>
      </p:grpSp>
      <p:sp>
        <p:nvSpPr>
          <p:cNvPr name="Freeform 12" id="12"/>
          <p:cNvSpPr/>
          <p:nvPr/>
        </p:nvSpPr>
        <p:spPr>
          <a:xfrm flipH="false" flipV="false" rot="0">
            <a:off x="15740058" y="1028700"/>
            <a:ext cx="7309077" cy="7309077"/>
          </a:xfrm>
          <a:custGeom>
            <a:avLst/>
            <a:gdLst/>
            <a:ahLst/>
            <a:cxnLst/>
            <a:rect r="r" b="b" t="t" l="l"/>
            <a:pathLst>
              <a:path h="7309077" w="7309077">
                <a:moveTo>
                  <a:pt x="0" y="0"/>
                </a:moveTo>
                <a:lnTo>
                  <a:pt x="7309077" y="0"/>
                </a:lnTo>
                <a:lnTo>
                  <a:pt x="7309077" y="7309077"/>
                </a:lnTo>
                <a:lnTo>
                  <a:pt x="0" y="730907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3" id="13"/>
          <p:cNvSpPr/>
          <p:nvPr/>
        </p:nvSpPr>
        <p:spPr>
          <a:xfrm flipH="true" flipV="false" rot="-1767601">
            <a:off x="12563351" y="343564"/>
            <a:ext cx="12131969" cy="9205131"/>
          </a:xfrm>
          <a:custGeom>
            <a:avLst/>
            <a:gdLst/>
            <a:ahLst/>
            <a:cxnLst/>
            <a:rect r="r" b="b" t="t" l="l"/>
            <a:pathLst>
              <a:path h="9205131" w="12131969">
                <a:moveTo>
                  <a:pt x="12131969" y="0"/>
                </a:moveTo>
                <a:lnTo>
                  <a:pt x="0" y="0"/>
                </a:lnTo>
                <a:lnTo>
                  <a:pt x="0" y="9205131"/>
                </a:lnTo>
                <a:lnTo>
                  <a:pt x="12131969" y="9205131"/>
                </a:lnTo>
                <a:lnTo>
                  <a:pt x="12131969" y="0"/>
                </a:lnTo>
                <a:close/>
              </a:path>
            </a:pathLst>
          </a:custGeom>
          <a:blipFill>
            <a:blip r:embed="rId8"/>
            <a:stretch>
              <a:fillRect l="0" t="0" r="0" b="0"/>
            </a:stretch>
          </a:blipFill>
        </p:spPr>
      </p:sp>
      <p:sp>
        <p:nvSpPr>
          <p:cNvPr name="Freeform 14" id="14"/>
          <p:cNvSpPr/>
          <p:nvPr/>
        </p:nvSpPr>
        <p:spPr>
          <a:xfrm flipH="false" flipV="false" rot="0">
            <a:off x="-3959524" y="7462986"/>
            <a:ext cx="7309077" cy="7309077"/>
          </a:xfrm>
          <a:custGeom>
            <a:avLst/>
            <a:gdLst/>
            <a:ahLst/>
            <a:cxnLst/>
            <a:rect r="r" b="b" t="t" l="l"/>
            <a:pathLst>
              <a:path h="7309077" w="7309077">
                <a:moveTo>
                  <a:pt x="0" y="0"/>
                </a:moveTo>
                <a:lnTo>
                  <a:pt x="7309077" y="0"/>
                </a:lnTo>
                <a:lnTo>
                  <a:pt x="7309077" y="7309077"/>
                </a:lnTo>
                <a:lnTo>
                  <a:pt x="0" y="730907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15740058" y="1028700"/>
            <a:ext cx="7309077" cy="7309077"/>
          </a:xfrm>
          <a:custGeom>
            <a:avLst/>
            <a:gdLst/>
            <a:ahLst/>
            <a:cxnLst/>
            <a:rect r="r" b="b" t="t" l="l"/>
            <a:pathLst>
              <a:path h="7309077" w="7309077">
                <a:moveTo>
                  <a:pt x="0" y="0"/>
                </a:moveTo>
                <a:lnTo>
                  <a:pt x="7309077" y="0"/>
                </a:lnTo>
                <a:lnTo>
                  <a:pt x="7309077" y="7309077"/>
                </a:lnTo>
                <a:lnTo>
                  <a:pt x="0" y="730907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2401554">
            <a:off x="14720272" y="-2339153"/>
            <a:ext cx="8376183" cy="8229600"/>
          </a:xfrm>
          <a:custGeom>
            <a:avLst/>
            <a:gdLst/>
            <a:ahLst/>
            <a:cxnLst/>
            <a:rect r="r" b="b" t="t" l="l"/>
            <a:pathLst>
              <a:path h="8229600" w="8376183">
                <a:moveTo>
                  <a:pt x="8376184" y="0"/>
                </a:moveTo>
                <a:lnTo>
                  <a:pt x="0" y="0"/>
                </a:lnTo>
                <a:lnTo>
                  <a:pt x="0" y="8229600"/>
                </a:lnTo>
                <a:lnTo>
                  <a:pt x="8376184" y="8229600"/>
                </a:lnTo>
                <a:lnTo>
                  <a:pt x="8376184" y="0"/>
                </a:lnTo>
                <a:close/>
              </a:path>
            </a:pathLst>
          </a:custGeom>
          <a:blipFill>
            <a:blip r:embed="rId4"/>
            <a:stretch>
              <a:fillRect l="0" t="0" r="0" b="0"/>
            </a:stretch>
          </a:blipFill>
        </p:spPr>
      </p:sp>
      <p:sp>
        <p:nvSpPr>
          <p:cNvPr name="Freeform 4" id="4"/>
          <p:cNvSpPr/>
          <p:nvPr/>
        </p:nvSpPr>
        <p:spPr>
          <a:xfrm flipH="false" flipV="false" rot="0">
            <a:off x="-647015" y="5307574"/>
            <a:ext cx="7309077" cy="7309077"/>
          </a:xfrm>
          <a:custGeom>
            <a:avLst/>
            <a:gdLst/>
            <a:ahLst/>
            <a:cxnLst/>
            <a:rect r="r" b="b" t="t" l="l"/>
            <a:pathLst>
              <a:path h="7309077" w="7309077">
                <a:moveTo>
                  <a:pt x="0" y="0"/>
                </a:moveTo>
                <a:lnTo>
                  <a:pt x="7309077" y="0"/>
                </a:lnTo>
                <a:lnTo>
                  <a:pt x="7309077" y="7309077"/>
                </a:lnTo>
                <a:lnTo>
                  <a:pt x="0" y="730907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4262330">
            <a:off x="-710525" y="3978473"/>
            <a:ext cx="7694676" cy="8229600"/>
          </a:xfrm>
          <a:custGeom>
            <a:avLst/>
            <a:gdLst/>
            <a:ahLst/>
            <a:cxnLst/>
            <a:rect r="r" b="b" t="t" l="l"/>
            <a:pathLst>
              <a:path h="8229600" w="7694676">
                <a:moveTo>
                  <a:pt x="0" y="0"/>
                </a:moveTo>
                <a:lnTo>
                  <a:pt x="7694676" y="0"/>
                </a:lnTo>
                <a:lnTo>
                  <a:pt x="7694676" y="8229600"/>
                </a:lnTo>
                <a:lnTo>
                  <a:pt x="0" y="8229600"/>
                </a:lnTo>
                <a:lnTo>
                  <a:pt x="0" y="0"/>
                </a:lnTo>
                <a:close/>
              </a:path>
            </a:pathLst>
          </a:custGeom>
          <a:blipFill>
            <a:blip r:embed="rId5"/>
            <a:stretch>
              <a:fillRect l="0" t="0" r="0" b="0"/>
            </a:stretch>
          </a:blipFill>
        </p:spPr>
      </p:sp>
      <p:grpSp>
        <p:nvGrpSpPr>
          <p:cNvPr name="Group 6" id="6"/>
          <p:cNvGrpSpPr/>
          <p:nvPr/>
        </p:nvGrpSpPr>
        <p:grpSpPr>
          <a:xfrm rot="0">
            <a:off x="0" y="-21431"/>
            <a:ext cx="13739806" cy="1735931"/>
            <a:chOff x="0" y="0"/>
            <a:chExt cx="18319742" cy="2314575"/>
          </a:xfrm>
        </p:grpSpPr>
        <p:sp>
          <p:nvSpPr>
            <p:cNvPr name="Freeform 7" id="7"/>
            <p:cNvSpPr/>
            <p:nvPr/>
          </p:nvSpPr>
          <p:spPr>
            <a:xfrm flipH="false" flipV="false" rot="0">
              <a:off x="0" y="0"/>
              <a:ext cx="18319736" cy="2314575"/>
            </a:xfrm>
            <a:custGeom>
              <a:avLst/>
              <a:gdLst/>
              <a:ahLst/>
              <a:cxnLst/>
              <a:rect r="r" b="b" t="t" l="l"/>
              <a:pathLst>
                <a:path h="2314575" w="18319736">
                  <a:moveTo>
                    <a:pt x="0" y="0"/>
                  </a:moveTo>
                  <a:lnTo>
                    <a:pt x="18319736" y="0"/>
                  </a:lnTo>
                  <a:lnTo>
                    <a:pt x="18319736" y="2314575"/>
                  </a:lnTo>
                  <a:lnTo>
                    <a:pt x="0" y="2314575"/>
                  </a:lnTo>
                  <a:close/>
                </a:path>
              </a:pathLst>
            </a:custGeom>
            <a:blipFill>
              <a:blip r:embed="rId6">
                <a:alphaModFix amt="0"/>
              </a:blip>
              <a:stretch>
                <a:fillRect l="0" t="-60776" r="28171" b="-60776"/>
              </a:stretch>
            </a:blipFill>
          </p:spPr>
        </p:sp>
        <p:sp>
          <p:nvSpPr>
            <p:cNvPr name="TextBox 8" id="8"/>
            <p:cNvSpPr txBox="true"/>
            <p:nvPr/>
          </p:nvSpPr>
          <p:spPr>
            <a:xfrm>
              <a:off x="0" y="-28575"/>
              <a:ext cx="18319742" cy="2343150"/>
            </a:xfrm>
            <a:prstGeom prst="rect">
              <a:avLst/>
            </a:prstGeom>
          </p:spPr>
          <p:txBody>
            <a:bodyPr anchor="ctr" rtlCol="false" tIns="0" lIns="0" bIns="0" rIns="0"/>
            <a:lstStyle/>
            <a:p>
              <a:pPr algn="ctr">
                <a:lnSpc>
                  <a:spcPts val="6480"/>
                </a:lnSpc>
              </a:pPr>
              <a:r>
                <a:rPr lang="en-US" b="true" sz="5400">
                  <a:solidFill>
                    <a:srgbClr val="FFFFFF"/>
                  </a:solidFill>
                  <a:latin typeface="Times New Roman Bold"/>
                  <a:ea typeface="Times New Roman Bold"/>
                  <a:cs typeface="Times New Roman Bold"/>
                  <a:sym typeface="Times New Roman Bold"/>
                </a:rPr>
                <a:t>TECHNICAL APPROACH</a:t>
              </a:r>
            </a:p>
          </p:txBody>
        </p:sp>
      </p:grpSp>
      <p:sp>
        <p:nvSpPr>
          <p:cNvPr name="TextBox 9" id="9"/>
          <p:cNvSpPr txBox="true"/>
          <p:nvPr/>
        </p:nvSpPr>
        <p:spPr>
          <a:xfrm rot="0">
            <a:off x="3518777" y="1763561"/>
            <a:ext cx="9235275" cy="4084955"/>
          </a:xfrm>
          <a:prstGeom prst="rect">
            <a:avLst/>
          </a:prstGeom>
        </p:spPr>
        <p:txBody>
          <a:bodyPr anchor="t" rtlCol="false" tIns="0" lIns="0" bIns="0" rIns="0">
            <a:spAutoFit/>
          </a:bodyPr>
          <a:lstStyle/>
          <a:p>
            <a:pPr algn="just" marL="683481" indent="-227827" lvl="2">
              <a:lnSpc>
                <a:spcPts val="5499"/>
              </a:lnSpc>
              <a:buFont typeface="Arial"/>
              <a:buChar char="⚬"/>
            </a:pPr>
            <a:r>
              <a:rPr lang="en-US" sz="2199">
                <a:solidFill>
                  <a:srgbClr val="FFFFFF"/>
                </a:solidFill>
                <a:latin typeface="Work Sans"/>
                <a:ea typeface="Work Sans"/>
                <a:cs typeface="Work Sans"/>
                <a:sym typeface="Work Sans"/>
              </a:rPr>
              <a:t>Technologies to be used:</a:t>
            </a:r>
          </a:p>
          <a:p>
            <a:pPr algn="just" marL="949959" indent="-316653" lvl="2">
              <a:lnSpc>
                <a:spcPts val="5499"/>
              </a:lnSpc>
              <a:buFont typeface="Arial"/>
              <a:buChar char="⚬"/>
            </a:pPr>
            <a:r>
              <a:rPr lang="en-US" sz="2199">
                <a:solidFill>
                  <a:srgbClr val="FFFFFF"/>
                </a:solidFill>
                <a:latin typeface="Work Sans"/>
                <a:ea typeface="Work Sans"/>
                <a:cs typeface="Work Sans"/>
                <a:sym typeface="Work Sans"/>
              </a:rPr>
              <a:t>Ardunio uno</a:t>
            </a:r>
          </a:p>
          <a:p>
            <a:pPr algn="just" marL="949959" indent="-316653" lvl="2">
              <a:lnSpc>
                <a:spcPts val="5499"/>
              </a:lnSpc>
              <a:buFont typeface="Arial"/>
              <a:buChar char="⚬"/>
            </a:pPr>
            <a:r>
              <a:rPr lang="en-US" sz="2199">
                <a:solidFill>
                  <a:srgbClr val="FFFFFF"/>
                </a:solidFill>
                <a:latin typeface="Work Sans"/>
                <a:ea typeface="Work Sans"/>
                <a:cs typeface="Work Sans"/>
                <a:sym typeface="Work Sans"/>
              </a:rPr>
              <a:t>Esp32</a:t>
            </a:r>
          </a:p>
          <a:p>
            <a:pPr algn="just" marL="949959" indent="-316653" lvl="2">
              <a:lnSpc>
                <a:spcPts val="5499"/>
              </a:lnSpc>
              <a:buFont typeface="Arial"/>
              <a:buChar char="⚬"/>
            </a:pPr>
            <a:r>
              <a:rPr lang="en-US" sz="2199">
                <a:solidFill>
                  <a:srgbClr val="FFFFFF"/>
                </a:solidFill>
                <a:latin typeface="Work Sans"/>
                <a:ea typeface="Work Sans"/>
                <a:cs typeface="Work Sans"/>
                <a:sym typeface="Work Sans"/>
              </a:rPr>
              <a:t>Ultra sonic sensor</a:t>
            </a:r>
          </a:p>
          <a:p>
            <a:pPr algn="just" marL="949959" indent="-316653" lvl="2">
              <a:lnSpc>
                <a:spcPts val="5499"/>
              </a:lnSpc>
              <a:buFont typeface="Arial"/>
              <a:buChar char="⚬"/>
            </a:pPr>
            <a:r>
              <a:rPr lang="en-US" sz="2199">
                <a:solidFill>
                  <a:srgbClr val="FFFFFF"/>
                </a:solidFill>
                <a:latin typeface="Work Sans"/>
                <a:ea typeface="Work Sans"/>
                <a:cs typeface="Work Sans"/>
                <a:sym typeface="Work Sans"/>
              </a:rPr>
              <a:t>C++ language</a:t>
            </a:r>
          </a:p>
          <a:p>
            <a:pPr algn="just" marL="683481" indent="-227827" lvl="2">
              <a:lnSpc>
                <a:spcPts val="5499"/>
              </a:lnSpc>
              <a:buFont typeface="Arial"/>
              <a:buChar char="⚬"/>
            </a:pPr>
            <a:r>
              <a:rPr lang="en-US" sz="2199">
                <a:solidFill>
                  <a:srgbClr val="FFFFFF"/>
                </a:solidFill>
                <a:latin typeface="Work Sans"/>
                <a:ea typeface="Work Sans"/>
                <a:cs typeface="Work Sans"/>
                <a:sym typeface="Work Sans"/>
              </a:rPr>
              <a:t>Methodology and process for implementation:</a:t>
            </a:r>
          </a:p>
        </p:txBody>
      </p:sp>
      <p:grpSp>
        <p:nvGrpSpPr>
          <p:cNvPr name="Group 10" id="10"/>
          <p:cNvGrpSpPr/>
          <p:nvPr/>
        </p:nvGrpSpPr>
        <p:grpSpPr>
          <a:xfrm rot="0">
            <a:off x="8320328" y="6173802"/>
            <a:ext cx="5761464" cy="3838943"/>
            <a:chOff x="0" y="0"/>
            <a:chExt cx="6408001" cy="4269740"/>
          </a:xfrm>
        </p:grpSpPr>
        <p:sp>
          <p:nvSpPr>
            <p:cNvPr name="Freeform 11" id="11"/>
            <p:cNvSpPr/>
            <p:nvPr/>
          </p:nvSpPr>
          <p:spPr>
            <a:xfrm flipH="false" flipV="false" rot="0">
              <a:off x="0" y="0"/>
              <a:ext cx="6408039" cy="4269740"/>
            </a:xfrm>
            <a:custGeom>
              <a:avLst/>
              <a:gdLst/>
              <a:ahLst/>
              <a:cxnLst/>
              <a:rect r="r" b="b" t="t" l="l"/>
              <a:pathLst>
                <a:path h="4269740" w="6408039">
                  <a:moveTo>
                    <a:pt x="0" y="0"/>
                  </a:moveTo>
                  <a:lnTo>
                    <a:pt x="6408039" y="0"/>
                  </a:lnTo>
                  <a:lnTo>
                    <a:pt x="6408039" y="4269740"/>
                  </a:lnTo>
                  <a:lnTo>
                    <a:pt x="0" y="4269740"/>
                  </a:lnTo>
                  <a:lnTo>
                    <a:pt x="0" y="0"/>
                  </a:lnTo>
                  <a:close/>
                </a:path>
              </a:pathLst>
            </a:custGeom>
            <a:blipFill>
              <a:blip r:embed="rId7"/>
              <a:stretch>
                <a:fillRect l="-16" t="0" r="-16" b="0"/>
              </a:stretch>
            </a:blipFill>
          </p:spPr>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13912702" y="4308688"/>
            <a:ext cx="7309077" cy="7309077"/>
          </a:xfrm>
          <a:custGeom>
            <a:avLst/>
            <a:gdLst/>
            <a:ahLst/>
            <a:cxnLst/>
            <a:rect r="r" b="b" t="t" l="l"/>
            <a:pathLst>
              <a:path h="7309077" w="7309077">
                <a:moveTo>
                  <a:pt x="0" y="0"/>
                </a:moveTo>
                <a:lnTo>
                  <a:pt x="7309077" y="0"/>
                </a:lnTo>
                <a:lnTo>
                  <a:pt x="7309077" y="7309077"/>
                </a:lnTo>
                <a:lnTo>
                  <a:pt x="0" y="730907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5696006" y="5143500"/>
            <a:ext cx="9500260" cy="8229600"/>
          </a:xfrm>
          <a:custGeom>
            <a:avLst/>
            <a:gdLst/>
            <a:ahLst/>
            <a:cxnLst/>
            <a:rect r="r" b="b" t="t" l="l"/>
            <a:pathLst>
              <a:path h="8229600" w="9500260">
                <a:moveTo>
                  <a:pt x="0" y="0"/>
                </a:moveTo>
                <a:lnTo>
                  <a:pt x="9500260" y="0"/>
                </a:lnTo>
                <a:lnTo>
                  <a:pt x="9500260" y="8229600"/>
                </a:lnTo>
                <a:lnTo>
                  <a:pt x="0" y="8229600"/>
                </a:lnTo>
                <a:lnTo>
                  <a:pt x="0" y="0"/>
                </a:lnTo>
                <a:close/>
              </a:path>
            </a:pathLst>
          </a:custGeom>
          <a:blipFill>
            <a:blip r:embed="rId4"/>
            <a:stretch>
              <a:fillRect l="0" t="0" r="0" b="0"/>
            </a:stretch>
          </a:blipFill>
        </p:spPr>
      </p:sp>
      <p:sp>
        <p:nvSpPr>
          <p:cNvPr name="Freeform 4" id="4"/>
          <p:cNvSpPr/>
          <p:nvPr/>
        </p:nvSpPr>
        <p:spPr>
          <a:xfrm flipH="false" flipV="false" rot="0">
            <a:off x="-3999184" y="-1857859"/>
            <a:ext cx="7309077" cy="7309077"/>
          </a:xfrm>
          <a:custGeom>
            <a:avLst/>
            <a:gdLst/>
            <a:ahLst/>
            <a:cxnLst/>
            <a:rect r="r" b="b" t="t" l="l"/>
            <a:pathLst>
              <a:path h="7309077" w="7309077">
                <a:moveTo>
                  <a:pt x="0" y="0"/>
                </a:moveTo>
                <a:lnTo>
                  <a:pt x="7309077" y="0"/>
                </a:lnTo>
                <a:lnTo>
                  <a:pt x="7309077" y="7309076"/>
                </a:lnTo>
                <a:lnTo>
                  <a:pt x="0" y="730907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6494719" y="-4662633"/>
            <a:ext cx="9500260" cy="8229600"/>
          </a:xfrm>
          <a:custGeom>
            <a:avLst/>
            <a:gdLst/>
            <a:ahLst/>
            <a:cxnLst/>
            <a:rect r="r" b="b" t="t" l="l"/>
            <a:pathLst>
              <a:path h="8229600" w="9500260">
                <a:moveTo>
                  <a:pt x="0" y="0"/>
                </a:moveTo>
                <a:lnTo>
                  <a:pt x="9500260" y="0"/>
                </a:lnTo>
                <a:lnTo>
                  <a:pt x="9500260" y="8229600"/>
                </a:lnTo>
                <a:lnTo>
                  <a:pt x="0" y="8229600"/>
                </a:lnTo>
                <a:lnTo>
                  <a:pt x="0" y="0"/>
                </a:lnTo>
                <a:close/>
              </a:path>
            </a:pathLst>
          </a:custGeom>
          <a:blipFill>
            <a:blip r:embed="rId4"/>
            <a:stretch>
              <a:fillRect l="0" t="0" r="0" b="0"/>
            </a:stretch>
          </a:blipFill>
        </p:spPr>
      </p:sp>
      <p:grpSp>
        <p:nvGrpSpPr>
          <p:cNvPr name="Group 6" id="6"/>
          <p:cNvGrpSpPr/>
          <p:nvPr/>
        </p:nvGrpSpPr>
        <p:grpSpPr>
          <a:xfrm rot="0">
            <a:off x="0" y="60748"/>
            <a:ext cx="18288000" cy="1735931"/>
            <a:chOff x="0" y="0"/>
            <a:chExt cx="24384000" cy="2314575"/>
          </a:xfrm>
        </p:grpSpPr>
        <p:sp>
          <p:nvSpPr>
            <p:cNvPr name="Freeform 7" id="7"/>
            <p:cNvSpPr/>
            <p:nvPr/>
          </p:nvSpPr>
          <p:spPr>
            <a:xfrm flipH="false" flipV="false" rot="0">
              <a:off x="0" y="0"/>
              <a:ext cx="24384000" cy="2314575"/>
            </a:xfrm>
            <a:custGeom>
              <a:avLst/>
              <a:gdLst/>
              <a:ahLst/>
              <a:cxnLst/>
              <a:rect r="r" b="b" t="t" l="l"/>
              <a:pathLst>
                <a:path h="2314575" w="24384000">
                  <a:moveTo>
                    <a:pt x="0" y="0"/>
                  </a:moveTo>
                  <a:lnTo>
                    <a:pt x="24384000" y="0"/>
                  </a:lnTo>
                  <a:lnTo>
                    <a:pt x="24384000" y="2314575"/>
                  </a:lnTo>
                  <a:lnTo>
                    <a:pt x="0" y="2314575"/>
                  </a:lnTo>
                  <a:close/>
                </a:path>
              </a:pathLst>
            </a:custGeom>
            <a:blipFill>
              <a:blip r:embed="rId5">
                <a:alphaModFix amt="0"/>
              </a:blip>
              <a:stretch>
                <a:fillRect l="0" t="-66663" r="43167" b="-66663"/>
              </a:stretch>
            </a:blipFill>
          </p:spPr>
        </p:sp>
        <p:sp>
          <p:nvSpPr>
            <p:cNvPr name="TextBox 8" id="8"/>
            <p:cNvSpPr txBox="true"/>
            <p:nvPr/>
          </p:nvSpPr>
          <p:spPr>
            <a:xfrm>
              <a:off x="0" y="-28575"/>
              <a:ext cx="24384000" cy="2343150"/>
            </a:xfrm>
            <a:prstGeom prst="rect">
              <a:avLst/>
            </a:prstGeom>
          </p:spPr>
          <p:txBody>
            <a:bodyPr anchor="ctr" rtlCol="false" tIns="0" lIns="0" bIns="0" rIns="0"/>
            <a:lstStyle/>
            <a:p>
              <a:pPr algn="ctr">
                <a:lnSpc>
                  <a:spcPts val="6480"/>
                </a:lnSpc>
              </a:pPr>
              <a:r>
                <a:rPr lang="en-US" b="true" sz="5400" u="sng">
                  <a:solidFill>
                    <a:srgbClr val="FFFFFF"/>
                  </a:solidFill>
                  <a:latin typeface="Times New Roman Bold"/>
                  <a:ea typeface="Times New Roman Bold"/>
                  <a:cs typeface="Times New Roman Bold"/>
                  <a:sym typeface="Times New Roman Bold"/>
                </a:rPr>
                <a:t>FEASIBILITY AND VIABILITY</a:t>
              </a:r>
            </a:p>
          </p:txBody>
        </p:sp>
      </p:grpSp>
      <p:sp>
        <p:nvSpPr>
          <p:cNvPr name="TextBox 9" id="9"/>
          <p:cNvSpPr txBox="true"/>
          <p:nvPr/>
        </p:nvSpPr>
        <p:spPr>
          <a:xfrm rot="0">
            <a:off x="1623210" y="2585845"/>
            <a:ext cx="15511331" cy="4829559"/>
          </a:xfrm>
          <a:prstGeom prst="rect">
            <a:avLst/>
          </a:prstGeom>
        </p:spPr>
        <p:txBody>
          <a:bodyPr anchor="t" rtlCol="false" tIns="0" lIns="0" bIns="0" rIns="0">
            <a:spAutoFit/>
          </a:bodyPr>
          <a:lstStyle/>
          <a:p>
            <a:pPr algn="just" marL="693621" indent="-231207" lvl="2">
              <a:lnSpc>
                <a:spcPts val="5581"/>
              </a:lnSpc>
              <a:buFont typeface="Arial"/>
              <a:buChar char="⚬"/>
            </a:pPr>
            <a:r>
              <a:rPr lang="en-US" sz="2232">
                <a:solidFill>
                  <a:srgbClr val="FFFFFF"/>
                </a:solidFill>
                <a:latin typeface="Arial"/>
                <a:ea typeface="Arial"/>
                <a:cs typeface="Arial"/>
                <a:sym typeface="Arial"/>
              </a:rPr>
              <a:t>It is highly feasible as it is cost effective as it costs like 1000 to 3000 to build one model in 2 week and Arduino excels in reading ultra sonic sensor and esp 32 manages the traffic light monitioring system and the overriding if time recquires it.</a:t>
            </a:r>
          </a:p>
          <a:p>
            <a:pPr algn="just" marL="693621" indent="-231207" lvl="2">
              <a:lnSpc>
                <a:spcPts val="5581"/>
              </a:lnSpc>
              <a:buFont typeface="Arial"/>
              <a:buChar char="⚬"/>
            </a:pPr>
            <a:r>
              <a:rPr lang="en-US" sz="2232">
                <a:solidFill>
                  <a:srgbClr val="FFFFFF"/>
                </a:solidFill>
                <a:latin typeface="Arial"/>
                <a:ea typeface="Arial"/>
                <a:cs typeface="Arial"/>
                <a:sym typeface="Arial"/>
              </a:rPr>
              <a:t>Major challenges include inaccuracies for ultra sonic senor form rain, pedestrians, weather, vandalism, power maintance issue.</a:t>
            </a:r>
          </a:p>
          <a:p>
            <a:pPr algn="just" marL="693621" indent="-231207" lvl="2">
              <a:lnSpc>
                <a:spcPts val="5581"/>
              </a:lnSpc>
            </a:pPr>
            <a:r>
              <a:rPr lang="en-US" sz="2232">
                <a:solidFill>
                  <a:srgbClr val="FFFFFF"/>
                </a:solidFill>
                <a:latin typeface="Arial"/>
                <a:ea typeface="Arial"/>
                <a:cs typeface="Arial"/>
                <a:sym typeface="Arial"/>
              </a:rPr>
              <a:t>Overcoming challenges would be using multiple sensor per lane with averaging filters and IR backups weather proof enclosures, solar powered battery systems, secure via HTTPS authentication system and more.</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3334906" y="5778773"/>
            <a:ext cx="7309077" cy="7309077"/>
          </a:xfrm>
          <a:custGeom>
            <a:avLst/>
            <a:gdLst/>
            <a:ahLst/>
            <a:cxnLst/>
            <a:rect r="r" b="b" t="t" l="l"/>
            <a:pathLst>
              <a:path h="7309077" w="7309077">
                <a:moveTo>
                  <a:pt x="0" y="0"/>
                </a:moveTo>
                <a:lnTo>
                  <a:pt x="7309077" y="0"/>
                </a:lnTo>
                <a:lnTo>
                  <a:pt x="7309077" y="7309077"/>
                </a:lnTo>
                <a:lnTo>
                  <a:pt x="0" y="730907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4239339" y="-2617965"/>
            <a:ext cx="7309077" cy="7309077"/>
          </a:xfrm>
          <a:custGeom>
            <a:avLst/>
            <a:gdLst/>
            <a:ahLst/>
            <a:cxnLst/>
            <a:rect r="r" b="b" t="t" l="l"/>
            <a:pathLst>
              <a:path h="7309077" w="7309077">
                <a:moveTo>
                  <a:pt x="0" y="0"/>
                </a:moveTo>
                <a:lnTo>
                  <a:pt x="7309077" y="0"/>
                </a:lnTo>
                <a:lnTo>
                  <a:pt x="7309077" y="7309077"/>
                </a:lnTo>
                <a:lnTo>
                  <a:pt x="0" y="730907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4750130" y="6700556"/>
            <a:ext cx="9500260" cy="8229600"/>
          </a:xfrm>
          <a:custGeom>
            <a:avLst/>
            <a:gdLst/>
            <a:ahLst/>
            <a:cxnLst/>
            <a:rect r="r" b="b" t="t" l="l"/>
            <a:pathLst>
              <a:path h="8229600" w="9500260">
                <a:moveTo>
                  <a:pt x="0" y="0"/>
                </a:moveTo>
                <a:lnTo>
                  <a:pt x="9500260" y="0"/>
                </a:lnTo>
                <a:lnTo>
                  <a:pt x="9500260" y="8229600"/>
                </a:lnTo>
                <a:lnTo>
                  <a:pt x="0" y="8229600"/>
                </a:lnTo>
                <a:lnTo>
                  <a:pt x="0" y="0"/>
                </a:lnTo>
                <a:close/>
              </a:path>
            </a:pathLst>
          </a:custGeom>
          <a:blipFill>
            <a:blip r:embed="rId4"/>
            <a:stretch>
              <a:fillRect l="0" t="0" r="0" b="0"/>
            </a:stretch>
          </a:blipFill>
        </p:spPr>
      </p:sp>
      <p:sp>
        <p:nvSpPr>
          <p:cNvPr name="Freeform 5" id="5"/>
          <p:cNvSpPr/>
          <p:nvPr/>
        </p:nvSpPr>
        <p:spPr>
          <a:xfrm flipH="false" flipV="false" rot="0">
            <a:off x="15050944" y="-4114800"/>
            <a:ext cx="9500260" cy="8229600"/>
          </a:xfrm>
          <a:custGeom>
            <a:avLst/>
            <a:gdLst/>
            <a:ahLst/>
            <a:cxnLst/>
            <a:rect r="r" b="b" t="t" l="l"/>
            <a:pathLst>
              <a:path h="8229600" w="9500260">
                <a:moveTo>
                  <a:pt x="0" y="0"/>
                </a:moveTo>
                <a:lnTo>
                  <a:pt x="9500260" y="0"/>
                </a:lnTo>
                <a:lnTo>
                  <a:pt x="9500260" y="8229600"/>
                </a:lnTo>
                <a:lnTo>
                  <a:pt x="0" y="8229600"/>
                </a:lnTo>
                <a:lnTo>
                  <a:pt x="0" y="0"/>
                </a:lnTo>
                <a:close/>
              </a:path>
            </a:pathLst>
          </a:custGeom>
          <a:blipFill>
            <a:blip r:embed="rId4"/>
            <a:stretch>
              <a:fillRect l="0" t="0" r="0" b="0"/>
            </a:stretch>
          </a:blipFill>
        </p:spPr>
      </p:sp>
      <p:grpSp>
        <p:nvGrpSpPr>
          <p:cNvPr name="Group 6" id="6"/>
          <p:cNvGrpSpPr/>
          <p:nvPr/>
        </p:nvGrpSpPr>
        <p:grpSpPr>
          <a:xfrm rot="0">
            <a:off x="0" y="0"/>
            <a:ext cx="18288000" cy="1735931"/>
            <a:chOff x="0" y="0"/>
            <a:chExt cx="24384000" cy="2314575"/>
          </a:xfrm>
        </p:grpSpPr>
        <p:sp>
          <p:nvSpPr>
            <p:cNvPr name="Freeform 7" id="7"/>
            <p:cNvSpPr/>
            <p:nvPr/>
          </p:nvSpPr>
          <p:spPr>
            <a:xfrm flipH="false" flipV="false" rot="0">
              <a:off x="0" y="0"/>
              <a:ext cx="24384000" cy="2314575"/>
            </a:xfrm>
            <a:custGeom>
              <a:avLst/>
              <a:gdLst/>
              <a:ahLst/>
              <a:cxnLst/>
              <a:rect r="r" b="b" t="t" l="l"/>
              <a:pathLst>
                <a:path h="2314575" w="24384000">
                  <a:moveTo>
                    <a:pt x="0" y="0"/>
                  </a:moveTo>
                  <a:lnTo>
                    <a:pt x="24384000" y="0"/>
                  </a:lnTo>
                  <a:lnTo>
                    <a:pt x="24384000" y="2314575"/>
                  </a:lnTo>
                  <a:lnTo>
                    <a:pt x="0" y="2314575"/>
                  </a:lnTo>
                  <a:close/>
                </a:path>
              </a:pathLst>
            </a:custGeom>
            <a:blipFill>
              <a:blip r:embed="rId5">
                <a:alphaModFix amt="0"/>
              </a:blip>
              <a:stretch>
                <a:fillRect l="0" t="-134747" r="10000" b="-134747"/>
              </a:stretch>
            </a:blipFill>
          </p:spPr>
        </p:sp>
        <p:sp>
          <p:nvSpPr>
            <p:cNvPr name="TextBox 8" id="8"/>
            <p:cNvSpPr txBox="true"/>
            <p:nvPr/>
          </p:nvSpPr>
          <p:spPr>
            <a:xfrm>
              <a:off x="0" y="-28575"/>
              <a:ext cx="24384000" cy="2343150"/>
            </a:xfrm>
            <a:prstGeom prst="rect">
              <a:avLst/>
            </a:prstGeom>
          </p:spPr>
          <p:txBody>
            <a:bodyPr anchor="ctr" rtlCol="false" tIns="0" lIns="0" bIns="0" rIns="0"/>
            <a:lstStyle/>
            <a:p>
              <a:pPr algn="ctr">
                <a:lnSpc>
                  <a:spcPts val="6480"/>
                </a:lnSpc>
              </a:pPr>
              <a:r>
                <a:rPr lang="en-US" b="true" sz="5400" u="sng">
                  <a:solidFill>
                    <a:srgbClr val="FFFFFF"/>
                  </a:solidFill>
                  <a:latin typeface="Times New Roman Bold"/>
                  <a:ea typeface="Times New Roman Bold"/>
                  <a:cs typeface="Times New Roman Bold"/>
                  <a:sym typeface="Times New Roman Bold"/>
                </a:rPr>
                <a:t>IMPACT AND BENEFITS</a:t>
              </a:r>
            </a:p>
          </p:txBody>
        </p:sp>
      </p:grpSp>
      <p:sp>
        <p:nvSpPr>
          <p:cNvPr name="TextBox 9" id="9"/>
          <p:cNvSpPr txBox="true"/>
          <p:nvPr/>
        </p:nvSpPr>
        <p:spPr>
          <a:xfrm rot="0">
            <a:off x="0" y="2448058"/>
            <a:ext cx="17549608" cy="4680276"/>
          </a:xfrm>
          <a:prstGeom prst="rect">
            <a:avLst/>
          </a:prstGeom>
        </p:spPr>
        <p:txBody>
          <a:bodyPr anchor="t" rtlCol="false" tIns="0" lIns="0" bIns="0" rIns="0">
            <a:spAutoFit/>
          </a:bodyPr>
          <a:lstStyle/>
          <a:p>
            <a:pPr algn="l" marL="784767" indent="-261589" lvl="2">
              <a:lnSpc>
                <a:spcPts val="6315"/>
              </a:lnSpc>
              <a:buFont typeface="Arial"/>
              <a:buChar char="⚬"/>
            </a:pPr>
            <a:r>
              <a:rPr lang="en-US" sz="2526">
                <a:solidFill>
                  <a:srgbClr val="FFFFFF"/>
                </a:solidFill>
                <a:latin typeface="Arial"/>
                <a:ea typeface="Arial"/>
                <a:cs typeface="Arial"/>
                <a:sym typeface="Arial"/>
              </a:rPr>
              <a:t>Impacts drivers and commuters with 40% reduced travel times, less peak hours frustration like in cities like Delhi Bangalore, Mumbai and priority for emergencies saving lives. Traffic authorities get real time data for monitoring and overrides. Emergency services achieve a faster Reponses, etc.</a:t>
            </a:r>
          </a:p>
          <a:p>
            <a:pPr algn="l" marL="784767" indent="-261589" lvl="2">
              <a:lnSpc>
                <a:spcPts val="6315"/>
              </a:lnSpc>
              <a:buFont typeface="Arial"/>
              <a:buChar char="⚬"/>
            </a:pPr>
            <a:r>
              <a:rPr lang="en-US" sz="2526">
                <a:solidFill>
                  <a:srgbClr val="FFFFFF"/>
                </a:solidFill>
                <a:latin typeface="Arial"/>
                <a:ea typeface="Arial"/>
                <a:cs typeface="Arial"/>
                <a:sym typeface="Arial"/>
              </a:rPr>
              <a:t>Socially, it curbs road rage boosts intersection safety, reduce accidents, ensures equity for emergencies transports. Economically deliver fuel savings, productivity from time efficiency, low cost scalability, Environmentally reduces carbon emission, technologically improves IOT analysis, education, smart infrastructure.</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true" flipV="false" rot="-1767601">
            <a:off x="-4467248" y="4187808"/>
            <a:ext cx="12131969" cy="9205131"/>
          </a:xfrm>
          <a:custGeom>
            <a:avLst/>
            <a:gdLst/>
            <a:ahLst/>
            <a:cxnLst/>
            <a:rect r="r" b="b" t="t" l="l"/>
            <a:pathLst>
              <a:path h="9205131" w="12131969">
                <a:moveTo>
                  <a:pt x="12131969" y="0"/>
                </a:moveTo>
                <a:lnTo>
                  <a:pt x="0" y="0"/>
                </a:lnTo>
                <a:lnTo>
                  <a:pt x="0" y="9205131"/>
                </a:lnTo>
                <a:lnTo>
                  <a:pt x="12131969" y="9205131"/>
                </a:lnTo>
                <a:lnTo>
                  <a:pt x="12131969" y="0"/>
                </a:lnTo>
                <a:close/>
              </a:path>
            </a:pathLst>
          </a:custGeom>
          <a:blipFill>
            <a:blip r:embed="rId2"/>
            <a:stretch>
              <a:fillRect l="0" t="0" r="0" b="0"/>
            </a:stretch>
          </a:blipFill>
        </p:spPr>
      </p:sp>
      <p:sp>
        <p:nvSpPr>
          <p:cNvPr name="Freeform 3" id="3"/>
          <p:cNvSpPr/>
          <p:nvPr/>
        </p:nvSpPr>
        <p:spPr>
          <a:xfrm flipH="false" flipV="false" rot="0">
            <a:off x="-2913850" y="-3934448"/>
            <a:ext cx="7309077" cy="7309077"/>
          </a:xfrm>
          <a:custGeom>
            <a:avLst/>
            <a:gdLst/>
            <a:ahLst/>
            <a:cxnLst/>
            <a:rect r="r" b="b" t="t" l="l"/>
            <a:pathLst>
              <a:path h="7309077" w="7309077">
                <a:moveTo>
                  <a:pt x="0" y="0"/>
                </a:moveTo>
                <a:lnTo>
                  <a:pt x="7309076" y="0"/>
                </a:lnTo>
                <a:lnTo>
                  <a:pt x="7309076" y="7309077"/>
                </a:lnTo>
                <a:lnTo>
                  <a:pt x="0" y="730907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4" id="4"/>
          <p:cNvGrpSpPr/>
          <p:nvPr/>
        </p:nvGrpSpPr>
        <p:grpSpPr>
          <a:xfrm rot="0">
            <a:off x="6741116" y="2506663"/>
            <a:ext cx="11546884" cy="1735931"/>
            <a:chOff x="0" y="0"/>
            <a:chExt cx="15395846" cy="2314575"/>
          </a:xfrm>
        </p:grpSpPr>
        <p:sp>
          <p:nvSpPr>
            <p:cNvPr name="Freeform 5" id="5"/>
            <p:cNvSpPr/>
            <p:nvPr/>
          </p:nvSpPr>
          <p:spPr>
            <a:xfrm flipH="false" flipV="false" rot="0">
              <a:off x="0" y="0"/>
              <a:ext cx="15395840" cy="2314575"/>
            </a:xfrm>
            <a:custGeom>
              <a:avLst/>
              <a:gdLst/>
              <a:ahLst/>
              <a:cxnLst/>
              <a:rect r="r" b="b" t="t" l="l"/>
              <a:pathLst>
                <a:path h="2314575" w="15395840">
                  <a:moveTo>
                    <a:pt x="0" y="0"/>
                  </a:moveTo>
                  <a:lnTo>
                    <a:pt x="15395840" y="0"/>
                  </a:lnTo>
                  <a:lnTo>
                    <a:pt x="15395840" y="2314575"/>
                  </a:lnTo>
                  <a:lnTo>
                    <a:pt x="0" y="2314575"/>
                  </a:lnTo>
                  <a:close/>
                </a:path>
              </a:pathLst>
            </a:custGeom>
            <a:blipFill>
              <a:blip r:embed="rId5">
                <a:alphaModFix amt="0"/>
              </a:blip>
              <a:stretch>
                <a:fillRect l="0" t="-74598" r="3865" b="-74598"/>
              </a:stretch>
            </a:blipFill>
          </p:spPr>
        </p:sp>
        <p:sp>
          <p:nvSpPr>
            <p:cNvPr name="TextBox 6" id="6"/>
            <p:cNvSpPr txBox="true"/>
            <p:nvPr/>
          </p:nvSpPr>
          <p:spPr>
            <a:xfrm>
              <a:off x="0" y="-28575"/>
              <a:ext cx="15395846" cy="2343150"/>
            </a:xfrm>
            <a:prstGeom prst="rect">
              <a:avLst/>
            </a:prstGeom>
          </p:spPr>
          <p:txBody>
            <a:bodyPr anchor="ctr" rtlCol="false" tIns="0" lIns="0" bIns="0" rIns="0"/>
            <a:lstStyle/>
            <a:p>
              <a:pPr algn="ctr">
                <a:lnSpc>
                  <a:spcPts val="6480"/>
                </a:lnSpc>
              </a:pPr>
              <a:r>
                <a:rPr lang="en-US" b="true" sz="5400" u="sng">
                  <a:solidFill>
                    <a:srgbClr val="FFFFFF"/>
                  </a:solidFill>
                  <a:latin typeface="Times New Roman Bold"/>
                  <a:ea typeface="Times New Roman Bold"/>
                  <a:cs typeface="Times New Roman Bold"/>
                  <a:sym typeface="Times New Roman Bold"/>
                </a:rPr>
                <a:t>RESEARCH  AND REFERENCES</a:t>
              </a:r>
            </a:p>
          </p:txBody>
        </p:sp>
      </p:grpSp>
      <p:sp>
        <p:nvSpPr>
          <p:cNvPr name="TextBox 7" id="7"/>
          <p:cNvSpPr txBox="true"/>
          <p:nvPr/>
        </p:nvSpPr>
        <p:spPr>
          <a:xfrm rot="0">
            <a:off x="8189390" y="4579242"/>
            <a:ext cx="8343861" cy="2442912"/>
          </a:xfrm>
          <a:prstGeom prst="rect">
            <a:avLst/>
          </a:prstGeom>
        </p:spPr>
        <p:txBody>
          <a:bodyPr anchor="t" rtlCol="false" tIns="0" lIns="0" bIns="0" rIns="0">
            <a:spAutoFit/>
          </a:bodyPr>
          <a:lstStyle/>
          <a:p>
            <a:pPr algn="just" marL="1143507" indent="-571753" lvl="1">
              <a:lnSpc>
                <a:spcPts val="6355"/>
              </a:lnSpc>
              <a:buFont typeface="Arial"/>
              <a:buChar char="•"/>
            </a:pPr>
            <a:r>
              <a:rPr lang="en-US" sz="5296" u="sng">
                <a:solidFill>
                  <a:srgbClr val="0000FF"/>
                </a:solidFill>
                <a:latin typeface="Arial"/>
                <a:ea typeface="Arial"/>
                <a:cs typeface="Arial"/>
                <a:sym typeface="Arial"/>
                <a:hlinkClick r:id="rId6" tooltip="http://www.tinkercad.com/"/>
              </a:rPr>
              <a:t>www.tinkercad.com</a:t>
            </a:r>
          </a:p>
          <a:p>
            <a:pPr algn="just" marL="1143507" indent="-571753" lvl="1">
              <a:lnSpc>
                <a:spcPts val="6355"/>
              </a:lnSpc>
              <a:buFont typeface="Arial"/>
              <a:buChar char="•"/>
            </a:pPr>
            <a:r>
              <a:rPr lang="en-US" sz="5296" u="sng">
                <a:solidFill>
                  <a:srgbClr val="0000FF"/>
                </a:solidFill>
                <a:latin typeface="Arial"/>
                <a:ea typeface="Arial"/>
                <a:cs typeface="Arial"/>
                <a:sym typeface="Arial"/>
                <a:hlinkClick r:id="rId7" tooltip="http://www.arduino.cc/"/>
              </a:rPr>
              <a:t>www.arduino.cc</a:t>
            </a:r>
          </a:p>
          <a:p>
            <a:pPr algn="just" marL="1143507" indent="-571753" lvl="1">
              <a:lnSpc>
                <a:spcPts val="6355"/>
              </a:lnSpc>
              <a:buFont typeface="Arial"/>
              <a:buChar char="•"/>
            </a:pPr>
            <a:r>
              <a:rPr lang="en-US" sz="5296" u="sng">
                <a:solidFill>
                  <a:srgbClr val="0000FF"/>
                </a:solidFill>
                <a:latin typeface="Arial"/>
                <a:ea typeface="Arial"/>
                <a:cs typeface="Arial"/>
                <a:sym typeface="Arial"/>
                <a:hlinkClick r:id="rId8" tooltip="http://www.blynk.io/"/>
              </a:rPr>
              <a:t>www.blynk.io</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TextBox 2" id="2"/>
          <p:cNvSpPr txBox="true"/>
          <p:nvPr/>
        </p:nvSpPr>
        <p:spPr>
          <a:xfrm rot="0">
            <a:off x="2929044" y="3730165"/>
            <a:ext cx="12429912" cy="2011031"/>
          </a:xfrm>
          <a:prstGeom prst="rect">
            <a:avLst/>
          </a:prstGeom>
        </p:spPr>
        <p:txBody>
          <a:bodyPr anchor="t" rtlCol="false" tIns="0" lIns="0" bIns="0" rIns="0">
            <a:spAutoFit/>
          </a:bodyPr>
          <a:lstStyle/>
          <a:p>
            <a:pPr algn="ctr">
              <a:lnSpc>
                <a:spcPts val="10789"/>
              </a:lnSpc>
            </a:pPr>
            <a:r>
              <a:rPr lang="en-US" b="true" sz="10374">
                <a:solidFill>
                  <a:srgbClr val="FFFFFF"/>
                </a:solidFill>
                <a:latin typeface="Prachason Neue Expanded Bold"/>
                <a:ea typeface="Prachason Neue Expanded Bold"/>
                <a:cs typeface="Prachason Neue Expanded Bold"/>
                <a:sym typeface="Prachason Neue Expanded Bold"/>
              </a:rPr>
              <a:t>THANK YOU</a:t>
            </a:r>
          </a:p>
        </p:txBody>
      </p:sp>
      <p:sp>
        <p:nvSpPr>
          <p:cNvPr name="Freeform 3" id="3"/>
          <p:cNvSpPr/>
          <p:nvPr/>
        </p:nvSpPr>
        <p:spPr>
          <a:xfrm flipH="false" flipV="false" rot="0">
            <a:off x="14745487" y="-4728560"/>
            <a:ext cx="7309077" cy="7309077"/>
          </a:xfrm>
          <a:custGeom>
            <a:avLst/>
            <a:gdLst/>
            <a:ahLst/>
            <a:cxnLst/>
            <a:rect r="r" b="b" t="t" l="l"/>
            <a:pathLst>
              <a:path h="7309077" w="7309077">
                <a:moveTo>
                  <a:pt x="0" y="0"/>
                </a:moveTo>
                <a:lnTo>
                  <a:pt x="7309077" y="0"/>
                </a:lnTo>
                <a:lnTo>
                  <a:pt x="7309077" y="7309077"/>
                </a:lnTo>
                <a:lnTo>
                  <a:pt x="0" y="730907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9773314" y="-9462119"/>
            <a:ext cx="12693341" cy="13630434"/>
          </a:xfrm>
          <a:custGeom>
            <a:avLst/>
            <a:gdLst/>
            <a:ahLst/>
            <a:cxnLst/>
            <a:rect r="r" b="b" t="t" l="l"/>
            <a:pathLst>
              <a:path h="13630434" w="12693341">
                <a:moveTo>
                  <a:pt x="0" y="0"/>
                </a:moveTo>
                <a:lnTo>
                  <a:pt x="12693341" y="0"/>
                </a:lnTo>
                <a:lnTo>
                  <a:pt x="12693341" y="13630434"/>
                </a:lnTo>
                <a:lnTo>
                  <a:pt x="0" y="13630434"/>
                </a:lnTo>
                <a:lnTo>
                  <a:pt x="0" y="0"/>
                </a:lnTo>
                <a:close/>
              </a:path>
            </a:pathLst>
          </a:custGeom>
          <a:blipFill>
            <a:blip r:embed="rId4"/>
            <a:stretch>
              <a:fillRect l="0" t="0" r="0" b="0"/>
            </a:stretch>
          </a:blipFill>
        </p:spPr>
      </p:sp>
      <p:sp>
        <p:nvSpPr>
          <p:cNvPr name="Freeform 5" id="5"/>
          <p:cNvSpPr/>
          <p:nvPr/>
        </p:nvSpPr>
        <p:spPr>
          <a:xfrm flipH="false" flipV="false" rot="0">
            <a:off x="-2399250" y="7362337"/>
            <a:ext cx="7309077" cy="7309077"/>
          </a:xfrm>
          <a:custGeom>
            <a:avLst/>
            <a:gdLst/>
            <a:ahLst/>
            <a:cxnLst/>
            <a:rect r="r" b="b" t="t" l="l"/>
            <a:pathLst>
              <a:path h="7309077" w="7309077">
                <a:moveTo>
                  <a:pt x="0" y="0"/>
                </a:moveTo>
                <a:lnTo>
                  <a:pt x="7309077" y="0"/>
                </a:lnTo>
                <a:lnTo>
                  <a:pt x="7309077" y="7309077"/>
                </a:lnTo>
                <a:lnTo>
                  <a:pt x="0" y="730907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23821" y="6915995"/>
            <a:ext cx="8381159" cy="8999903"/>
          </a:xfrm>
          <a:custGeom>
            <a:avLst/>
            <a:gdLst/>
            <a:ahLst/>
            <a:cxnLst/>
            <a:rect r="r" b="b" t="t" l="l"/>
            <a:pathLst>
              <a:path h="8999903" w="8381159">
                <a:moveTo>
                  <a:pt x="0" y="0"/>
                </a:moveTo>
                <a:lnTo>
                  <a:pt x="8381159" y="0"/>
                </a:lnTo>
                <a:lnTo>
                  <a:pt x="8381159" y="8999903"/>
                </a:lnTo>
                <a:lnTo>
                  <a:pt x="0" y="8999903"/>
                </a:lnTo>
                <a:lnTo>
                  <a:pt x="0" y="0"/>
                </a:lnTo>
                <a:close/>
              </a:path>
            </a:pathLst>
          </a:custGeom>
          <a:blipFill>
            <a:blip r:embed="rId4"/>
            <a:stretch>
              <a:fillRect l="0" t="0" r="0" b="0"/>
            </a:stretch>
          </a:blipFill>
        </p:spPr>
      </p:sp>
      <p:sp>
        <p:nvSpPr>
          <p:cNvPr name="TextBox 7" id="7"/>
          <p:cNvSpPr txBox="true"/>
          <p:nvPr/>
        </p:nvSpPr>
        <p:spPr>
          <a:xfrm rot="0">
            <a:off x="6169921" y="5664996"/>
            <a:ext cx="5600317" cy="504067"/>
          </a:xfrm>
          <a:prstGeom prst="rect">
            <a:avLst/>
          </a:prstGeom>
        </p:spPr>
        <p:txBody>
          <a:bodyPr anchor="t" rtlCol="false" tIns="0" lIns="0" bIns="0" rIns="0">
            <a:spAutoFit/>
          </a:bodyPr>
          <a:lstStyle/>
          <a:p>
            <a:pPr algn="l">
              <a:lnSpc>
                <a:spcPts val="4209"/>
              </a:lnSpc>
            </a:pPr>
            <a:r>
              <a:rPr lang="en-US" sz="2844" spc="659">
                <a:solidFill>
                  <a:srgbClr val="FFFFFF"/>
                </a:solidFill>
                <a:latin typeface="Montserrat"/>
                <a:ea typeface="Montserrat"/>
                <a:cs typeface="Montserrat"/>
                <a:sym typeface="Montserrat"/>
              </a:rPr>
              <a:t>-BY POWERHOUSE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DAHCG6PzYao</dc:identifier>
  <dcterms:modified xsi:type="dcterms:W3CDTF">2011-08-01T06:04:30Z</dcterms:modified>
  <cp:revision>1</cp:revision>
  <dc:title>Powerhouse.pptx</dc:title>
</cp:coreProperties>
</file>